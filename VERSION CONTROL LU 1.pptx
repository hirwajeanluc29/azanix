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8" r:id="rId1"/>
  </p:sldMasterIdLst>
  <p:sldIdLst>
    <p:sldId id="256" r:id="rId2"/>
    <p:sldId id="275" r:id="rId3"/>
    <p:sldId id="276" r:id="rId4"/>
    <p:sldId id="257" r:id="rId5"/>
    <p:sldId id="258" r:id="rId6"/>
    <p:sldId id="259" r:id="rId7"/>
    <p:sldId id="260" r:id="rId8"/>
    <p:sldId id="261" r:id="rId9"/>
    <p:sldId id="272" r:id="rId10"/>
    <p:sldId id="273" r:id="rId11"/>
    <p:sldId id="274" r:id="rId12"/>
    <p:sldId id="262" r:id="rId13"/>
    <p:sldId id="263" r:id="rId14"/>
    <p:sldId id="264" r:id="rId15"/>
    <p:sldId id="265" r:id="rId16"/>
    <p:sldId id="266" r:id="rId17"/>
    <p:sldId id="267" r:id="rId18"/>
    <p:sldId id="268" r:id="rId19"/>
    <p:sldId id="269" r:id="rId20"/>
    <p:sldId id="27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7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6C20579-0125-4200-A94B-59A4E8C896EE}" type="datetimeFigureOut">
              <a:rPr lang="en-RW" smtClean="0"/>
              <a:t>02/10/2025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C7488B44-A190-41E2-93D3-0E5300934C60}" type="slidenum">
              <a:rPr lang="en-RW" smtClean="0"/>
              <a:t>‹#›</a:t>
            </a:fld>
            <a:endParaRPr lang="en-RW"/>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304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C20579-0125-4200-A94B-59A4E8C896EE}" type="datetimeFigureOut">
              <a:rPr lang="en-RW" smtClean="0"/>
              <a:t>02/10/2025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C7488B44-A190-41E2-93D3-0E5300934C60}" type="slidenum">
              <a:rPr lang="en-RW" smtClean="0"/>
              <a:t>‹#›</a:t>
            </a:fld>
            <a:endParaRPr lang="en-RW"/>
          </a:p>
        </p:txBody>
      </p:sp>
    </p:spTree>
    <p:extLst>
      <p:ext uri="{BB962C8B-B14F-4D97-AF65-F5344CB8AC3E}">
        <p14:creationId xmlns:p14="http://schemas.microsoft.com/office/powerpoint/2010/main" val="1656758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6C20579-0125-4200-A94B-59A4E8C896EE}" type="datetimeFigureOut">
              <a:rPr lang="en-RW" smtClean="0"/>
              <a:t>02/10/2025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C7488B44-A190-41E2-93D3-0E5300934C60}" type="slidenum">
              <a:rPr lang="en-RW" smtClean="0"/>
              <a:t>‹#›</a:t>
            </a:fld>
            <a:endParaRPr lang="en-RW"/>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4561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6C20579-0125-4200-A94B-59A4E8C896EE}" type="datetimeFigureOut">
              <a:rPr lang="en-RW" smtClean="0"/>
              <a:t>02/10/2025</a:t>
            </a:fld>
            <a:endParaRPr lang="en-RW"/>
          </a:p>
        </p:txBody>
      </p:sp>
      <p:sp>
        <p:nvSpPr>
          <p:cNvPr id="6" name="Footer Placeholder 5"/>
          <p:cNvSpPr>
            <a:spLocks noGrp="1"/>
          </p:cNvSpPr>
          <p:nvPr>
            <p:ph type="ftr" sz="quarter" idx="11"/>
          </p:nvPr>
        </p:nvSpPr>
        <p:spPr/>
        <p:txBody>
          <a:bodyPr/>
          <a:lstStyle/>
          <a:p>
            <a:endParaRPr lang="en-RW"/>
          </a:p>
        </p:txBody>
      </p:sp>
      <p:sp>
        <p:nvSpPr>
          <p:cNvPr id="7" name="Slide Number Placeholder 6"/>
          <p:cNvSpPr>
            <a:spLocks noGrp="1"/>
          </p:cNvSpPr>
          <p:nvPr>
            <p:ph type="sldNum" sz="quarter" idx="12"/>
          </p:nvPr>
        </p:nvSpPr>
        <p:spPr/>
        <p:txBody>
          <a:bodyPr/>
          <a:lstStyle/>
          <a:p>
            <a:fld id="{C7488B44-A190-41E2-93D3-0E5300934C60}" type="slidenum">
              <a:rPr lang="en-RW" smtClean="0"/>
              <a:t>‹#›</a:t>
            </a:fld>
            <a:endParaRPr lang="en-RW"/>
          </a:p>
        </p:txBody>
      </p:sp>
    </p:spTree>
    <p:extLst>
      <p:ext uri="{BB962C8B-B14F-4D97-AF65-F5344CB8AC3E}">
        <p14:creationId xmlns:p14="http://schemas.microsoft.com/office/powerpoint/2010/main" val="4191191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C20579-0125-4200-A94B-59A4E8C896EE}" type="datetimeFigureOut">
              <a:rPr lang="en-RW" smtClean="0"/>
              <a:t>02/10/2025</a:t>
            </a:fld>
            <a:endParaRPr lang="en-RW"/>
          </a:p>
        </p:txBody>
      </p:sp>
      <p:sp>
        <p:nvSpPr>
          <p:cNvPr id="8" name="Footer Placeholder 7"/>
          <p:cNvSpPr>
            <a:spLocks noGrp="1"/>
          </p:cNvSpPr>
          <p:nvPr>
            <p:ph type="ftr" sz="quarter" idx="11"/>
          </p:nvPr>
        </p:nvSpPr>
        <p:spPr/>
        <p:txBody>
          <a:bodyPr/>
          <a:lstStyle/>
          <a:p>
            <a:endParaRPr lang="en-RW"/>
          </a:p>
        </p:txBody>
      </p:sp>
      <p:sp>
        <p:nvSpPr>
          <p:cNvPr id="9" name="Slide Number Placeholder 8"/>
          <p:cNvSpPr>
            <a:spLocks noGrp="1"/>
          </p:cNvSpPr>
          <p:nvPr>
            <p:ph type="sldNum" sz="quarter" idx="12"/>
          </p:nvPr>
        </p:nvSpPr>
        <p:spPr/>
        <p:txBody>
          <a:bodyPr/>
          <a:lstStyle/>
          <a:p>
            <a:fld id="{C7488B44-A190-41E2-93D3-0E5300934C60}" type="slidenum">
              <a:rPr lang="en-RW" smtClean="0"/>
              <a:t>‹#›</a:t>
            </a:fld>
            <a:endParaRPr lang="en-RW"/>
          </a:p>
        </p:txBody>
      </p:sp>
    </p:spTree>
    <p:extLst>
      <p:ext uri="{BB962C8B-B14F-4D97-AF65-F5344CB8AC3E}">
        <p14:creationId xmlns:p14="http://schemas.microsoft.com/office/powerpoint/2010/main" val="3003339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6C20579-0125-4200-A94B-59A4E8C896EE}" type="datetimeFigureOut">
              <a:rPr lang="en-RW" smtClean="0"/>
              <a:t>02/10/2025</a:t>
            </a:fld>
            <a:endParaRPr lang="en-RW"/>
          </a:p>
        </p:txBody>
      </p:sp>
      <p:sp>
        <p:nvSpPr>
          <p:cNvPr id="4" name="Footer Placeholder 3"/>
          <p:cNvSpPr>
            <a:spLocks noGrp="1"/>
          </p:cNvSpPr>
          <p:nvPr>
            <p:ph type="ftr" sz="quarter" idx="11"/>
          </p:nvPr>
        </p:nvSpPr>
        <p:spPr/>
        <p:txBody>
          <a:bodyPr/>
          <a:lstStyle/>
          <a:p>
            <a:endParaRPr lang="en-RW"/>
          </a:p>
        </p:txBody>
      </p:sp>
      <p:sp>
        <p:nvSpPr>
          <p:cNvPr id="5" name="Slide Number Placeholder 4"/>
          <p:cNvSpPr>
            <a:spLocks noGrp="1"/>
          </p:cNvSpPr>
          <p:nvPr>
            <p:ph type="sldNum" sz="quarter" idx="12"/>
          </p:nvPr>
        </p:nvSpPr>
        <p:spPr/>
        <p:txBody>
          <a:bodyPr/>
          <a:lstStyle/>
          <a:p>
            <a:fld id="{C7488B44-A190-41E2-93D3-0E5300934C60}" type="slidenum">
              <a:rPr lang="en-RW" smtClean="0"/>
              <a:t>‹#›</a:t>
            </a:fld>
            <a:endParaRPr lang="en-RW"/>
          </a:p>
        </p:txBody>
      </p:sp>
    </p:spTree>
    <p:extLst>
      <p:ext uri="{BB962C8B-B14F-4D97-AF65-F5344CB8AC3E}">
        <p14:creationId xmlns:p14="http://schemas.microsoft.com/office/powerpoint/2010/main" val="2543036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6C20579-0125-4200-A94B-59A4E8C896EE}" type="datetimeFigureOut">
              <a:rPr lang="en-RW" smtClean="0"/>
              <a:t>02/10/2025</a:t>
            </a:fld>
            <a:endParaRPr lang="en-RW"/>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RW"/>
          </a:p>
        </p:txBody>
      </p:sp>
      <p:sp>
        <p:nvSpPr>
          <p:cNvPr id="9" name="Slide Number Placeholder 8"/>
          <p:cNvSpPr>
            <a:spLocks noGrp="1"/>
          </p:cNvSpPr>
          <p:nvPr>
            <p:ph type="sldNum" sz="quarter" idx="12"/>
          </p:nvPr>
        </p:nvSpPr>
        <p:spPr/>
        <p:txBody>
          <a:bodyPr/>
          <a:lstStyle/>
          <a:p>
            <a:fld id="{C7488B44-A190-41E2-93D3-0E5300934C60}" type="slidenum">
              <a:rPr lang="en-RW" smtClean="0"/>
              <a:t>‹#›</a:t>
            </a:fld>
            <a:endParaRPr lang="en-RW"/>
          </a:p>
        </p:txBody>
      </p:sp>
    </p:spTree>
    <p:extLst>
      <p:ext uri="{BB962C8B-B14F-4D97-AF65-F5344CB8AC3E}">
        <p14:creationId xmlns:p14="http://schemas.microsoft.com/office/powerpoint/2010/main" val="4254097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C20579-0125-4200-A94B-59A4E8C896EE}" type="datetimeFigureOut">
              <a:rPr lang="en-RW" smtClean="0"/>
              <a:t>02/10/2025</a:t>
            </a:fld>
            <a:endParaRPr lang="en-RW"/>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RW"/>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7488B44-A190-41E2-93D3-0E5300934C60}" type="slidenum">
              <a:rPr lang="en-RW" smtClean="0"/>
              <a:t>‹#›</a:t>
            </a:fld>
            <a:endParaRPr lang="en-RW"/>
          </a:p>
        </p:txBody>
      </p:sp>
    </p:spTree>
    <p:extLst>
      <p:ext uri="{BB962C8B-B14F-4D97-AF65-F5344CB8AC3E}">
        <p14:creationId xmlns:p14="http://schemas.microsoft.com/office/powerpoint/2010/main" val="2100938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6C20579-0125-4200-A94B-59A4E8C896EE}" type="datetimeFigureOut">
              <a:rPr lang="en-RW" smtClean="0"/>
              <a:t>02/10/2025</a:t>
            </a:fld>
            <a:endParaRPr lang="en-RW"/>
          </a:p>
        </p:txBody>
      </p:sp>
      <p:sp>
        <p:nvSpPr>
          <p:cNvPr id="6" name="Footer Placeholder 5"/>
          <p:cNvSpPr>
            <a:spLocks noGrp="1"/>
          </p:cNvSpPr>
          <p:nvPr>
            <p:ph type="ftr" sz="quarter" idx="11"/>
          </p:nvPr>
        </p:nvSpPr>
        <p:spPr/>
        <p:txBody>
          <a:bodyPr/>
          <a:lstStyle/>
          <a:p>
            <a:endParaRPr lang="en-RW"/>
          </a:p>
        </p:txBody>
      </p:sp>
      <p:sp>
        <p:nvSpPr>
          <p:cNvPr id="7" name="Slide Number Placeholder 6"/>
          <p:cNvSpPr>
            <a:spLocks noGrp="1"/>
          </p:cNvSpPr>
          <p:nvPr>
            <p:ph type="sldNum" sz="quarter" idx="12"/>
          </p:nvPr>
        </p:nvSpPr>
        <p:spPr/>
        <p:txBody>
          <a:bodyPr/>
          <a:lstStyle/>
          <a:p>
            <a:fld id="{C7488B44-A190-41E2-93D3-0E5300934C60}" type="slidenum">
              <a:rPr lang="en-RW" smtClean="0"/>
              <a:t>‹#›</a:t>
            </a:fld>
            <a:endParaRPr lang="en-RW"/>
          </a:p>
        </p:txBody>
      </p:sp>
    </p:spTree>
    <p:extLst>
      <p:ext uri="{BB962C8B-B14F-4D97-AF65-F5344CB8AC3E}">
        <p14:creationId xmlns:p14="http://schemas.microsoft.com/office/powerpoint/2010/main" val="3911487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C20579-0125-4200-A94B-59A4E8C896EE}" type="datetimeFigureOut">
              <a:rPr lang="en-RW" smtClean="0"/>
              <a:t>02/10/2025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C7488B44-A190-41E2-93D3-0E5300934C60}" type="slidenum">
              <a:rPr lang="en-RW" smtClean="0"/>
              <a:t>‹#›</a:t>
            </a:fld>
            <a:endParaRPr lang="en-RW"/>
          </a:p>
        </p:txBody>
      </p:sp>
    </p:spTree>
    <p:extLst>
      <p:ext uri="{BB962C8B-B14F-4D97-AF65-F5344CB8AC3E}">
        <p14:creationId xmlns:p14="http://schemas.microsoft.com/office/powerpoint/2010/main" val="1519086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C20579-0125-4200-A94B-59A4E8C896EE}" type="datetimeFigureOut">
              <a:rPr lang="en-RW" smtClean="0"/>
              <a:t>02/10/2025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C7488B44-A190-41E2-93D3-0E5300934C60}" type="slidenum">
              <a:rPr lang="en-RW" smtClean="0"/>
              <a:t>‹#›</a:t>
            </a:fld>
            <a:endParaRPr lang="en-RW"/>
          </a:p>
        </p:txBody>
      </p:sp>
    </p:spTree>
    <p:extLst>
      <p:ext uri="{BB962C8B-B14F-4D97-AF65-F5344CB8AC3E}">
        <p14:creationId xmlns:p14="http://schemas.microsoft.com/office/powerpoint/2010/main" val="2287536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6C20579-0125-4200-A94B-59A4E8C896EE}" type="datetimeFigureOut">
              <a:rPr lang="en-RW" smtClean="0"/>
              <a:t>02/10/2025</a:t>
            </a:fld>
            <a:endParaRPr lang="en-RW"/>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RW"/>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7488B44-A190-41E2-93D3-0E5300934C60}" type="slidenum">
              <a:rPr lang="en-RW" smtClean="0"/>
              <a:t>‹#›</a:t>
            </a:fld>
            <a:endParaRPr lang="en-RW"/>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893408"/>
      </p:ext>
    </p:extLst>
  </p:cSld>
  <p:clrMap bg1="lt1" tx1="dk1" bg2="lt2" tx2="dk2" accent1="accent1" accent2="accent2" accent3="accent3" accent4="accent4" accent5="accent5" accent6="accent6" hlink="hlink" folHlink="folHlink"/>
  <p:sldLayoutIdLst>
    <p:sldLayoutId id="2147484149" r:id="rId1"/>
    <p:sldLayoutId id="2147484150" r:id="rId2"/>
    <p:sldLayoutId id="2147484151" r:id="rId3"/>
    <p:sldLayoutId id="2147484152" r:id="rId4"/>
    <p:sldLayoutId id="2147484153" r:id="rId5"/>
    <p:sldLayoutId id="2147484154" r:id="rId6"/>
    <p:sldLayoutId id="2147484155" r:id="rId7"/>
    <p:sldLayoutId id="2147484156" r:id="rId8"/>
    <p:sldLayoutId id="2147484157" r:id="rId9"/>
    <p:sldLayoutId id="2147484158" r:id="rId10"/>
    <p:sldLayoutId id="21474841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EA732-09DC-04C4-75FB-3FF0360253C7}"/>
              </a:ext>
            </a:extLst>
          </p:cNvPr>
          <p:cNvSpPr>
            <a:spLocks noGrp="1"/>
          </p:cNvSpPr>
          <p:nvPr>
            <p:ph type="ctrTitle"/>
          </p:nvPr>
        </p:nvSpPr>
        <p:spPr>
          <a:xfrm>
            <a:off x="106018" y="636865"/>
            <a:ext cx="11337837" cy="2580101"/>
          </a:xfrm>
        </p:spPr>
        <p:txBody>
          <a:bodyPr>
            <a:normAutofit fontScale="90000"/>
          </a:bodyPr>
          <a:lstStyle/>
          <a:p>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TRADE: SOFTWARE DEVELOPMENT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US" sz="5300" dirty="0">
                <a:effectLst/>
                <a:latin typeface="Times New Roman" panose="02020603050405020304" pitchFamily="18" charset="0"/>
                <a:ea typeface="Calibri" panose="020F0502020204030204" pitchFamily="34" charset="0"/>
                <a:cs typeface="Times New Roman" panose="02020603050405020304" pitchFamily="18" charset="0"/>
              </a:rPr>
              <a:t>MODULE </a:t>
            </a:r>
            <a:r>
              <a:rPr lang="en-US" sz="4400" dirty="0"/>
              <a:t>CODE:SWDVC301</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RW" sz="1800" dirty="0">
                <a:effectLst/>
                <a:latin typeface="Times New Roman" panose="02020603050405020304" pitchFamily="18" charset="0"/>
                <a:ea typeface="Calibri" panose="020F0502020204030204" pitchFamily="34" charset="0"/>
                <a:cs typeface="Times New Roman" panose="02020603050405020304" pitchFamily="18" charset="0"/>
              </a:rPr>
              <a:t/>
            </a:r>
            <a:br>
              <a:rPr lang="en-RW"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4000" dirty="0">
                <a:latin typeface="Times New Roman" panose="02020603050405020304" pitchFamily="18" charset="0"/>
                <a:ea typeface="Calibri" panose="020F0502020204030204" pitchFamily="34" charset="0"/>
                <a:cs typeface="Times New Roman" panose="02020603050405020304" pitchFamily="18" charset="0"/>
              </a:rPr>
              <a:t>LEVEL 3 SOFTWARE  DEVELOPMENT    </a:t>
            </a:r>
            <a:r>
              <a:rPr lang="en-US" sz="4000" dirty="0" smtClean="0">
                <a:latin typeface="Times New Roman" panose="02020603050405020304" pitchFamily="18" charset="0"/>
                <a:ea typeface="Calibri" panose="020F0502020204030204" pitchFamily="34" charset="0"/>
                <a:cs typeface="Times New Roman" panose="02020603050405020304" pitchFamily="18" charset="0"/>
              </a:rPr>
              <a:t>A </a:t>
            </a:r>
            <a:r>
              <a:rPr lang="en-US" sz="4000" dirty="0">
                <a:latin typeface="Times New Roman" panose="02020603050405020304" pitchFamily="18" charset="0"/>
                <a:ea typeface="Calibri" panose="020F0502020204030204" pitchFamily="34" charset="0"/>
                <a:cs typeface="Times New Roman" panose="02020603050405020304" pitchFamily="18" charset="0"/>
              </a:rPr>
              <a:t>,B &amp; C</a:t>
            </a:r>
            <a:endParaRPr lang="en-RW"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32F7964-3A3A-FF84-616A-DC86EF44D802}"/>
              </a:ext>
            </a:extLst>
          </p:cNvPr>
          <p:cNvSpPr>
            <a:spLocks noGrp="1"/>
          </p:cNvSpPr>
          <p:nvPr>
            <p:ph type="subTitle" idx="1"/>
          </p:nvPr>
        </p:nvSpPr>
        <p:spPr>
          <a:xfrm>
            <a:off x="304800" y="4277899"/>
            <a:ext cx="9972863" cy="2580101"/>
          </a:xfrm>
        </p:spPr>
        <p:txBody>
          <a:bodyPr>
            <a:normAutofit/>
          </a:bodyPr>
          <a:lstStyle/>
          <a:p>
            <a:r>
              <a:rPr lang="en-US" sz="2800" dirty="0">
                <a:latin typeface="Times New Roman" panose="02020603050405020304" pitchFamily="18" charset="0"/>
                <a:cs typeface="Times New Roman" panose="02020603050405020304" pitchFamily="18" charset="0"/>
              </a:rPr>
              <a:t>Module name: CONDUCT VERSION CONTROL</a:t>
            </a:r>
          </a:p>
          <a:p>
            <a:endParaRPr lang="en-US" dirty="0">
              <a:latin typeface="Times New Roman" panose="02020603050405020304" pitchFamily="18" charset="0"/>
              <a:cs typeface="Times New Roman" panose="02020603050405020304" pitchFamily="18" charset="0"/>
            </a:endParaRPr>
          </a:p>
          <a:p>
            <a:r>
              <a:rPr lang="en-US" sz="4400" dirty="0" smtClean="0">
                <a:latin typeface="Times New Roman" panose="02020603050405020304" pitchFamily="18" charset="0"/>
                <a:cs typeface="Times New Roman" panose="02020603050405020304" pitchFamily="18" charset="0"/>
              </a:rPr>
              <a:t>TRAINER:AZAN </a:t>
            </a:r>
            <a:r>
              <a:rPr lang="en-US" sz="4400" dirty="0">
                <a:latin typeface="Times New Roman" panose="02020603050405020304" pitchFamily="18" charset="0"/>
                <a:cs typeface="Times New Roman" panose="02020603050405020304" pitchFamily="18" charset="0"/>
              </a:rPr>
              <a:t>ABIZEYIMANA </a:t>
            </a:r>
            <a:endParaRPr lang="en-RW"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4402649"/>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8011" y="209005"/>
            <a:ext cx="11518537" cy="6479177"/>
          </a:xfrm>
          <a:prstGeom prst="rect">
            <a:avLst/>
          </a:prstGeom>
        </p:spPr>
      </p:pic>
    </p:spTree>
    <p:extLst>
      <p:ext uri="{BB962C8B-B14F-4D97-AF65-F5344CB8AC3E}">
        <p14:creationId xmlns:p14="http://schemas.microsoft.com/office/powerpoint/2010/main" val="2092785581"/>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
            <a:ext cx="12096205" cy="7256202"/>
          </a:xfrm>
          <a:prstGeom prst="rect">
            <a:avLst/>
          </a:prstGeom>
        </p:spPr>
      </p:pic>
    </p:spTree>
    <p:extLst>
      <p:ext uri="{BB962C8B-B14F-4D97-AF65-F5344CB8AC3E}">
        <p14:creationId xmlns:p14="http://schemas.microsoft.com/office/powerpoint/2010/main" val="3971234434"/>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256F-EDAE-3258-93ED-953F8C221B3C}"/>
              </a:ext>
            </a:extLst>
          </p:cNvPr>
          <p:cNvSpPr>
            <a:spLocks noGrp="1"/>
          </p:cNvSpPr>
          <p:nvPr>
            <p:ph type="title"/>
          </p:nvPr>
        </p:nvSpPr>
        <p:spPr/>
        <p:txBody>
          <a:bodyPr>
            <a:normAutofit/>
          </a:bodyPr>
          <a:lstStyle/>
          <a:p>
            <a:r>
              <a:rPr lang="en-GB" sz="4800" b="1" kern="0" dirty="0">
                <a:solidFill>
                  <a:srgbClr val="0070C0"/>
                </a:solidFill>
                <a:effectLst/>
                <a:latin typeface="Times New Roman" panose="02020603050405020304" pitchFamily="18" charset="0"/>
              </a:rPr>
              <a:t>Introduction</a:t>
            </a:r>
            <a:r>
              <a:rPr lang="en-RW" sz="1800" b="1" kern="0" dirty="0">
                <a:effectLst/>
                <a:latin typeface="Calibri" panose="020F0502020204030204" pitchFamily="34" charset="0"/>
              </a:rPr>
              <a:t/>
            </a:r>
            <a:br>
              <a:rPr lang="en-RW" sz="1800" b="1" kern="0" dirty="0">
                <a:effectLst/>
                <a:latin typeface="Calibri" panose="020F0502020204030204" pitchFamily="34" charset="0"/>
              </a:rPr>
            </a:br>
            <a:endParaRPr lang="en-RW" dirty="0"/>
          </a:p>
        </p:txBody>
      </p:sp>
      <p:sp>
        <p:nvSpPr>
          <p:cNvPr id="3" name="Content Placeholder 2">
            <a:extLst>
              <a:ext uri="{FF2B5EF4-FFF2-40B4-BE49-F238E27FC236}">
                <a16:creationId xmlns:a16="http://schemas.microsoft.com/office/drawing/2014/main" id="{2AF9DB11-4A27-F754-6DF0-13DB70981C47}"/>
              </a:ext>
            </a:extLst>
          </p:cNvPr>
          <p:cNvSpPr>
            <a:spLocks noGrp="1"/>
          </p:cNvSpPr>
          <p:nvPr>
            <p:ph idx="1"/>
          </p:nvPr>
        </p:nvSpPr>
        <p:spPr/>
        <p:txBody>
          <a:bodyPr>
            <a:normAutofit fontScale="92500" lnSpcReduction="10000"/>
          </a:bodyPr>
          <a:lstStyle/>
          <a:p>
            <a:r>
              <a:rPr lang="en" sz="3200" dirty="0">
                <a:effectLst/>
                <a:latin typeface="Times New Roman" panose="02020603050405020304" pitchFamily="18" charset="0"/>
                <a:ea typeface="Calibri" panose="020F0502020204030204" pitchFamily="34" charset="0"/>
                <a:cs typeface="Times New Roman" panose="02020603050405020304" pitchFamily="18" charset="0"/>
              </a:rPr>
              <a:t>Let's imagine a company operating in many countries with many employees, in order to work they need to come to work in different departments. What happened during the COVID 19 pandemic? Are employees still working as usual? We all know it's not possible, because many companies were forced to close their doors because of the stay-at-home order. How would the company's employees continue to work and be aware of the changes in their company? How would they know about the changes in their institution? How would they keep up with the past? </a:t>
            </a:r>
            <a:endParaRPr lang="en-RW"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RW" dirty="0"/>
          </a:p>
        </p:txBody>
      </p:sp>
    </p:spTree>
    <p:extLst>
      <p:ext uri="{BB962C8B-B14F-4D97-AF65-F5344CB8AC3E}">
        <p14:creationId xmlns:p14="http://schemas.microsoft.com/office/powerpoint/2010/main" val="20075759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CE74C-937A-DEBF-F429-2635CE11F952}"/>
              </a:ext>
            </a:extLst>
          </p:cNvPr>
          <p:cNvSpPr>
            <a:spLocks noGrp="1"/>
          </p:cNvSpPr>
          <p:nvPr>
            <p:ph type="title"/>
          </p:nvPr>
        </p:nvSpPr>
        <p:spPr/>
        <p:txBody>
          <a:bodyPr>
            <a:normAutofit fontScale="90000"/>
          </a:bodyPr>
          <a:lstStyle/>
          <a:p>
            <a:r>
              <a:rPr lang="en" dirty="0">
                <a:effectLst/>
                <a:latin typeface="Times New Roman" panose="02020603050405020304" pitchFamily="18" charset="0"/>
                <a:ea typeface="Calibri" panose="020F0502020204030204" pitchFamily="34" charset="0"/>
              </a:rPr>
              <a:t>There are different problems that may be raised, among them we can cite the followings:</a:t>
            </a:r>
            <a:r>
              <a:rPr lang="en-RW" sz="1800" dirty="0">
                <a:effectLst/>
                <a:latin typeface="Calibri" panose="020F0502020204030204" pitchFamily="34" charset="0"/>
                <a:ea typeface="Calibri" panose="020F0502020204030204" pitchFamily="34" charset="0"/>
              </a:rPr>
              <a:t/>
            </a:r>
            <a:br>
              <a:rPr lang="en-RW" sz="1800" dirty="0">
                <a:effectLst/>
                <a:latin typeface="Calibri" panose="020F0502020204030204" pitchFamily="34" charset="0"/>
                <a:ea typeface="Calibri" panose="020F0502020204030204" pitchFamily="34" charset="0"/>
              </a:rPr>
            </a:br>
            <a:endParaRPr lang="en-RW" dirty="0"/>
          </a:p>
        </p:txBody>
      </p:sp>
      <p:sp>
        <p:nvSpPr>
          <p:cNvPr id="3" name="Content Placeholder 2">
            <a:extLst>
              <a:ext uri="{FF2B5EF4-FFF2-40B4-BE49-F238E27FC236}">
                <a16:creationId xmlns:a16="http://schemas.microsoft.com/office/drawing/2014/main" id="{70E9B5B5-DAC5-29C3-400D-B0A4C4F52166}"/>
              </a:ext>
            </a:extLst>
          </p:cNvPr>
          <p:cNvSpPr>
            <a:spLocks noGrp="1"/>
          </p:cNvSpPr>
          <p:nvPr>
            <p:ph idx="1"/>
          </p:nvPr>
        </p:nvSpPr>
        <p:spPr/>
        <p:txBody>
          <a:bodyPr>
            <a:normAutofit/>
          </a:bodyPr>
          <a:lstStyle/>
          <a:p>
            <a:pPr marL="342900" lvl="0" indent="-342900">
              <a:lnSpc>
                <a:spcPct val="106000"/>
              </a:lnSpc>
              <a:spcAft>
                <a:spcPts val="800"/>
              </a:spcAft>
              <a:buFont typeface="Wingdings" panose="05000000000000000000" pitchFamily="2" charset="2"/>
              <a:buChar char=""/>
            </a:pPr>
            <a:r>
              <a:rPr lang="en" dirty="0">
                <a:effectLst/>
                <a:latin typeface="Times New Roman" panose="02020603050405020304" pitchFamily="18" charset="0"/>
                <a:ea typeface="Calibri" panose="020F0502020204030204" pitchFamily="34" charset="0"/>
                <a:cs typeface="Times New Roman" panose="02020603050405020304" pitchFamily="18" charset="0"/>
              </a:rPr>
              <a:t>Lack of collaboration</a:t>
            </a:r>
            <a:endParaRPr lang="en-RW"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 dirty="0">
                <a:effectLst/>
                <a:latin typeface="Times New Roman" panose="02020603050405020304" pitchFamily="18" charset="0"/>
                <a:ea typeface="Calibri" panose="020F0502020204030204" pitchFamily="34" charset="0"/>
                <a:cs typeface="Times New Roman" panose="02020603050405020304" pitchFamily="18" charset="0"/>
              </a:rPr>
              <a:t>Storing versions</a:t>
            </a:r>
            <a:endParaRPr lang="en-RW"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 dirty="0">
                <a:effectLst/>
                <a:latin typeface="Times New Roman" panose="02020603050405020304" pitchFamily="18" charset="0"/>
                <a:ea typeface="Calibri" panose="020F0502020204030204" pitchFamily="34" charset="0"/>
                <a:cs typeface="Times New Roman" panose="02020603050405020304" pitchFamily="18" charset="0"/>
              </a:rPr>
              <a:t>Restoring previous version once needed</a:t>
            </a:r>
            <a:endParaRPr lang="en-RW"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 dirty="0">
                <a:effectLst/>
                <a:latin typeface="Times New Roman" panose="02020603050405020304" pitchFamily="18" charset="0"/>
                <a:ea typeface="Calibri" panose="020F0502020204030204" pitchFamily="34" charset="0"/>
                <a:cs typeface="Times New Roman" panose="02020603050405020304" pitchFamily="18" charset="0"/>
              </a:rPr>
              <a:t>Figuring out what happened in different branches</a:t>
            </a:r>
            <a:endParaRPr lang="en-RW"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 dirty="0">
                <a:effectLst/>
                <a:latin typeface="Times New Roman" panose="02020603050405020304" pitchFamily="18" charset="0"/>
                <a:ea typeface="Calibri" panose="020F0502020204030204" pitchFamily="34" charset="0"/>
                <a:cs typeface="Times New Roman" panose="02020603050405020304" pitchFamily="18" charset="0"/>
              </a:rPr>
              <a:t>Problem of backup</a:t>
            </a:r>
            <a:endParaRPr lang="en-RW"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In summary</a:t>
            </a:r>
            <a:r>
              <a:rPr lang="en-GB" b="1" dirty="0">
                <a:effectLst/>
                <a:latin typeface="Times New Roman" panose="02020603050405020304" pitchFamily="18" charset="0"/>
                <a:ea typeface="Calibri" panose="020F0502020204030204" pitchFamily="34" charset="0"/>
                <a:cs typeface="Times New Roman" panose="02020603050405020304" pitchFamily="18" charset="0"/>
              </a:rPr>
              <a:t> </a:t>
            </a:r>
            <a:r>
              <a:rPr lang="en" dirty="0">
                <a:effectLst/>
                <a:latin typeface="Times New Roman" panose="02020603050405020304" pitchFamily="18" charset="0"/>
                <a:ea typeface="Calibri" panose="020F0502020204030204" pitchFamily="34" charset="0"/>
                <a:cs typeface="Times New Roman" panose="02020603050405020304" pitchFamily="18" charset="0"/>
              </a:rPr>
              <a:t>Is the reason why we need a version control system as developers in order to overcome those cited issues.</a:t>
            </a:r>
            <a:endParaRPr lang="en-RW"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RW" dirty="0"/>
          </a:p>
        </p:txBody>
      </p:sp>
    </p:spTree>
    <p:extLst>
      <p:ext uri="{BB962C8B-B14F-4D97-AF65-F5344CB8AC3E}">
        <p14:creationId xmlns:p14="http://schemas.microsoft.com/office/powerpoint/2010/main" val="12443455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5E111-BB01-3381-9E4A-235CD3F9DB7E}"/>
              </a:ext>
            </a:extLst>
          </p:cNvPr>
          <p:cNvSpPr>
            <a:spLocks noGrp="1"/>
          </p:cNvSpPr>
          <p:nvPr>
            <p:ph type="title"/>
          </p:nvPr>
        </p:nvSpPr>
        <p:spPr>
          <a:xfrm>
            <a:off x="838200" y="312116"/>
            <a:ext cx="10515600" cy="1325563"/>
          </a:xfrm>
        </p:spPr>
        <p:txBody>
          <a:bodyPr>
            <a:normAutofit fontScale="90000"/>
          </a:bodyPr>
          <a:lstStyle/>
          <a:p>
            <a:pPr>
              <a:lnSpc>
                <a:spcPct val="107000"/>
              </a:lnSpc>
              <a:spcAft>
                <a:spcPts val="8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
            </a:r>
            <a:br>
              <a:rPr lang="en-US" sz="36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Learning outcome 1: Setup repository</a:t>
            </a:r>
            <a:r>
              <a:rPr lang="en-RW" sz="3600" dirty="0">
                <a:effectLst/>
                <a:latin typeface="Times New Roman" panose="02020603050405020304" pitchFamily="18" charset="0"/>
                <a:ea typeface="Calibri" panose="020F0502020204030204" pitchFamily="34" charset="0"/>
                <a:cs typeface="Times New Roman" panose="02020603050405020304" pitchFamily="18" charset="0"/>
              </a:rPr>
              <a:t/>
            </a:r>
            <a:br>
              <a:rPr lang="en-RW" sz="3600" dirty="0">
                <a:effectLst/>
                <a:latin typeface="Times New Roman" panose="02020603050405020304" pitchFamily="18" charset="0"/>
                <a:ea typeface="Calibri" panose="020F0502020204030204" pitchFamily="34" charset="0"/>
                <a:cs typeface="Times New Roman" panose="02020603050405020304" pitchFamily="18" charset="0"/>
              </a:rPr>
            </a:b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 Indicative content 1.1: Definition of general key terms</a:t>
            </a:r>
            <a:r>
              <a:rPr lang="en-RW" sz="1800" dirty="0">
                <a:effectLst/>
                <a:latin typeface="Calibri" panose="020F0502020204030204" pitchFamily="34" charset="0"/>
                <a:ea typeface="Calibri" panose="020F0502020204030204" pitchFamily="34" charset="0"/>
                <a:cs typeface="Times New Roman" panose="02020603050405020304" pitchFamily="18" charset="0"/>
              </a:rPr>
              <a:t/>
            </a:r>
            <a:br>
              <a:rPr lang="en-RW" sz="1800" dirty="0">
                <a:effectLst/>
                <a:latin typeface="Calibri" panose="020F0502020204030204" pitchFamily="34" charset="0"/>
                <a:ea typeface="Calibri" panose="020F0502020204030204" pitchFamily="34"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E43A05FA-C376-7DC1-94EB-443D66DC0861}"/>
              </a:ext>
            </a:extLst>
          </p:cNvPr>
          <p:cNvSpPr>
            <a:spLocks noGrp="1"/>
          </p:cNvSpPr>
          <p:nvPr>
            <p:ph idx="1"/>
          </p:nvPr>
        </p:nvSpPr>
        <p:spPr>
          <a:xfrm>
            <a:off x="134471" y="1845734"/>
            <a:ext cx="11021209" cy="4023360"/>
          </a:xfrm>
        </p:spPr>
        <p:txBody>
          <a:bodyPr>
            <a:normAutofit/>
          </a:bodyPr>
          <a:lstStyle/>
          <a:p>
            <a:pPr>
              <a:lnSpc>
                <a:spcPct val="107000"/>
              </a:lnSpc>
              <a:spcAft>
                <a:spcPts val="800"/>
              </a:spcAft>
            </a:pPr>
            <a:r>
              <a:rPr lang="en-US" sz="2800" b="1" dirty="0">
                <a:solidFill>
                  <a:srgbClr val="0070C0"/>
                </a:solidFill>
              </a:rPr>
              <a:t>Version control, </a:t>
            </a:r>
            <a:r>
              <a:rPr lang="en-US" dirty="0"/>
              <a:t>also known as source control, is the practice of tracking and managing changes to software codes.</a:t>
            </a:r>
            <a:endParaRPr lang="en-RW" dirty="0"/>
          </a:p>
          <a:p>
            <a:r>
              <a:rPr lang="en-US" sz="2800" b="1" dirty="0">
                <a:solidFill>
                  <a:srgbClr val="0070C0"/>
                </a:solidFill>
              </a:rPr>
              <a:t>Version control systems </a:t>
            </a:r>
            <a:r>
              <a:rPr lang="en-US" dirty="0"/>
              <a:t>are software tools that help software teams manage changes to source code over time.</a:t>
            </a:r>
          </a:p>
          <a:p>
            <a:pPr marL="0" indent="0">
              <a:buNone/>
            </a:pPr>
            <a:endParaRPr lang="en-US" dirty="0"/>
          </a:p>
          <a:p>
            <a:r>
              <a:rPr lang="en-US" dirty="0"/>
              <a:t> As development environments have accelerated, version control systems help software teams work faster and smarter.</a:t>
            </a:r>
            <a:endParaRPr lang="en-RW" dirty="0"/>
          </a:p>
          <a:p>
            <a:pPr marL="0" indent="0">
              <a:lnSpc>
                <a:spcPct val="107000"/>
              </a:lnSpc>
              <a:spcAft>
                <a:spcPts val="800"/>
              </a:spcAft>
              <a:buNone/>
            </a:pPr>
            <a:endParaRPr lang="en-RW" dirty="0"/>
          </a:p>
        </p:txBody>
      </p:sp>
    </p:spTree>
    <p:extLst>
      <p:ext uri="{BB962C8B-B14F-4D97-AF65-F5344CB8AC3E}">
        <p14:creationId xmlns:p14="http://schemas.microsoft.com/office/powerpoint/2010/main" val="2717752036"/>
      </p:ext>
    </p:extLst>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35249-AEC0-7051-F210-0BB49EA3D3C4}"/>
              </a:ext>
            </a:extLst>
          </p:cNvPr>
          <p:cNvSpPr>
            <a:spLocks noGrp="1"/>
          </p:cNvSpPr>
          <p:nvPr>
            <p:ph type="title"/>
          </p:nvPr>
        </p:nvSpPr>
        <p:spPr>
          <a:xfrm>
            <a:off x="646111" y="-1020417"/>
            <a:ext cx="9404723" cy="3723860"/>
          </a:xfrm>
        </p:spPr>
        <p:txBody>
          <a:bodyPr>
            <a:normAutofit/>
          </a:bodyPr>
          <a:lstStyle/>
          <a:p>
            <a:r>
              <a:rPr lang="en-US" dirty="0"/>
              <a:t/>
            </a:r>
            <a:br>
              <a:rPr lang="en-US" dirty="0"/>
            </a:br>
            <a:r>
              <a:rPr lang="en-US" dirty="0"/>
              <a:t/>
            </a:r>
            <a:br>
              <a:rPr lang="en-US" dirty="0"/>
            </a:br>
            <a:r>
              <a:rPr lang="en-US" sz="3100" dirty="0"/>
              <a:t>Before we dive into setting up version control, let me explain some common terms and commands used in version control so you understand what everything means!</a:t>
            </a:r>
            <a:endParaRPr lang="en-RW" sz="3100" dirty="0"/>
          </a:p>
        </p:txBody>
      </p:sp>
      <p:sp>
        <p:nvSpPr>
          <p:cNvPr id="3" name="Content Placeholder 2">
            <a:extLst>
              <a:ext uri="{FF2B5EF4-FFF2-40B4-BE49-F238E27FC236}">
                <a16:creationId xmlns:a16="http://schemas.microsoft.com/office/drawing/2014/main" id="{19110FDC-CBDD-F5BC-AF4E-7D0FA3FED892}"/>
              </a:ext>
            </a:extLst>
          </p:cNvPr>
          <p:cNvSpPr>
            <a:spLocks noGrp="1"/>
          </p:cNvSpPr>
          <p:nvPr>
            <p:ph idx="1"/>
          </p:nvPr>
        </p:nvSpPr>
        <p:spPr>
          <a:xfrm>
            <a:off x="437323" y="2586446"/>
            <a:ext cx="10927364" cy="4793152"/>
          </a:xfrm>
        </p:spPr>
        <p:txBody>
          <a:bodyPr/>
          <a:lstStyle/>
          <a:p>
            <a:r>
              <a:rPr lang="en-US" sz="3600" dirty="0">
                <a:solidFill>
                  <a:srgbClr val="0070C0"/>
                </a:solidFill>
              </a:rPr>
              <a:t>Repo,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short for </a:t>
            </a:r>
            <a:r>
              <a:rPr lang="en-US" sz="2400" b="1" spc="-5" dirty="0">
                <a:effectLst/>
                <a:latin typeface="Times New Roman" panose="02020603050405020304" pitchFamily="18" charset="0"/>
                <a:ea typeface="Times New Roman" panose="02020603050405020304" pitchFamily="18" charset="0"/>
                <a:cs typeface="Times New Roman" panose="02020603050405020304" pitchFamily="18" charset="0"/>
              </a:rPr>
              <a:t>Repository</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it’s a storage space where you project or code resides in, it’s like a folder for your code! </a:t>
            </a:r>
          </a:p>
          <a:p>
            <a:endParaRPr lang="en-US" sz="2400" spc="-5"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There are two types of repos, local and remote.</a:t>
            </a:r>
            <a:endParaRPr lang="en-RW" dirty="0">
              <a:effectLst/>
            </a:endParaRPr>
          </a:p>
          <a:p>
            <a:pPr marL="457200" lvl="1" indent="0">
              <a:lnSpc>
                <a:spcPts val="2100"/>
              </a:lnSpc>
              <a:spcBef>
                <a:spcPts val="1370"/>
              </a:spcBef>
              <a:spcAft>
                <a:spcPts val="800"/>
              </a:spcAft>
              <a:buSzPts val="1000"/>
              <a:buNone/>
              <a:tabLst>
                <a:tab pos="914400" algn="l"/>
              </a:tabLst>
            </a:pPr>
            <a:r>
              <a:rPr lang="en-US" sz="3600" dirty="0">
                <a:solidFill>
                  <a:srgbClr val="0070C0"/>
                </a:solidFill>
              </a:rPr>
              <a:t>1. Local Repo:</a:t>
            </a:r>
          </a:p>
          <a:p>
            <a:pPr marL="457200" lvl="1" indent="0">
              <a:lnSpc>
                <a:spcPts val="2100"/>
              </a:lnSpc>
              <a:spcBef>
                <a:spcPts val="1370"/>
              </a:spcBef>
              <a:spcAft>
                <a:spcPts val="800"/>
              </a:spcAft>
              <a:buSzPts val="1000"/>
              <a:buNone/>
              <a:tabLst>
                <a:tab pos="914400" algn="l"/>
              </a:tabLst>
            </a:pPr>
            <a:r>
              <a:rPr lang="en-US" spc="-5" dirty="0">
                <a:effectLst/>
                <a:latin typeface="Times New Roman" panose="02020603050405020304" pitchFamily="18" charset="0"/>
                <a:ea typeface="Times New Roman" panose="02020603050405020304" pitchFamily="18" charset="0"/>
                <a:cs typeface="Times New Roman" panose="02020603050405020304" pitchFamily="18" charset="0"/>
              </a:rPr>
              <a:t> it is going to be on the machine (laptop or computer) where your code is stored at. Locally storing it means only you have access to the code and if your computer crashes or you lose that code, then it would be pretty hard to get it back.</a:t>
            </a:r>
            <a:endParaRPr lang="en-RW"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RW"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endParaRPr lang="en-RW" dirty="0"/>
          </a:p>
        </p:txBody>
      </p:sp>
    </p:spTree>
    <p:extLst>
      <p:ext uri="{BB962C8B-B14F-4D97-AF65-F5344CB8AC3E}">
        <p14:creationId xmlns:p14="http://schemas.microsoft.com/office/powerpoint/2010/main" val="6746196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95A7DA-ABE4-9720-DC39-0A5FB1753050}"/>
              </a:ext>
            </a:extLst>
          </p:cNvPr>
          <p:cNvSpPr>
            <a:spLocks noGrp="1"/>
          </p:cNvSpPr>
          <p:nvPr>
            <p:ph idx="1"/>
          </p:nvPr>
        </p:nvSpPr>
        <p:spPr>
          <a:xfrm>
            <a:off x="215348" y="314877"/>
            <a:ext cx="11976652" cy="6337714"/>
          </a:xfrm>
        </p:spPr>
        <p:txBody>
          <a:bodyPr>
            <a:normAutofit/>
          </a:bodyPr>
          <a:lstStyle/>
          <a:p>
            <a:pPr marL="457200" lvl="1" indent="0">
              <a:lnSpc>
                <a:spcPts val="2100"/>
              </a:lnSpc>
              <a:spcBef>
                <a:spcPts val="1370"/>
              </a:spcBef>
              <a:spcAft>
                <a:spcPts val="800"/>
              </a:spcAft>
              <a:buSzPts val="1000"/>
              <a:buNone/>
              <a:tabLst>
                <a:tab pos="914400" algn="l"/>
              </a:tabLst>
            </a:pPr>
            <a:endParaRPr lang="en-US" sz="2800" dirty="0">
              <a:highlight>
                <a:srgbClr val="000000"/>
              </a:highlight>
              <a:latin typeface="Times New Roman" panose="02020603050405020304" pitchFamily="18"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endParaRPr lang="en-US" sz="2800" dirty="0">
              <a:highlight>
                <a:srgbClr val="000000"/>
              </a:highlight>
              <a:latin typeface="Times New Roman" panose="02020603050405020304" pitchFamily="18"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r>
              <a:rPr lang="en-US" sz="3200" dirty="0">
                <a:solidFill>
                  <a:srgbClr val="00B0F0"/>
                </a:solidFill>
              </a:rPr>
              <a:t>2. Remote Repo:  </a:t>
            </a:r>
          </a:p>
          <a:p>
            <a:pPr marL="457200" lvl="1" indent="0">
              <a:lnSpc>
                <a:spcPts val="2100"/>
              </a:lnSpc>
              <a:spcBef>
                <a:spcPts val="1370"/>
              </a:spcBef>
              <a:spcAft>
                <a:spcPts val="800"/>
              </a:spcAft>
              <a:buSzPts val="1000"/>
              <a:buNone/>
              <a:tabLst>
                <a:tab pos="914400" algn="l"/>
              </a:tabLst>
            </a:pP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it is going to be hosted on a website, like GitHub, </a:t>
            </a:r>
            <a:endParaRPr lang="en-US" sz="2400" spc="-5"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r>
              <a:rPr lang="en-US" sz="2400" spc="-5" dirty="0" smtClean="0">
                <a:effectLst/>
                <a:latin typeface="Times New Roman" panose="02020603050405020304" pitchFamily="18" charset="0"/>
                <a:ea typeface="Times New Roman" panose="02020603050405020304" pitchFamily="18" charset="0"/>
                <a:cs typeface="Times New Roman" panose="02020603050405020304" pitchFamily="18" charset="0"/>
              </a:rPr>
              <a:t>for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example, and your code here is accessible to not just you, but your whole team! </a:t>
            </a:r>
            <a:endParaRPr lang="en-US" sz="2400" spc="-5"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r>
              <a:rPr lang="en-US" sz="2400" spc="-5" dirty="0" smtClean="0">
                <a:effectLst/>
                <a:latin typeface="Times New Roman" panose="02020603050405020304" pitchFamily="18" charset="0"/>
                <a:ea typeface="Times New Roman" panose="02020603050405020304" pitchFamily="18" charset="0"/>
                <a:cs typeface="Times New Roman" panose="02020603050405020304" pitchFamily="18" charset="0"/>
              </a:rPr>
              <a:t>If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you lose your code on your computer, your code is still safe on here! </a:t>
            </a:r>
            <a:endParaRPr lang="en-US" sz="2400" spc="-5"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r>
              <a:rPr lang="en-US" sz="2400" spc="-5" dirty="0" smtClean="0">
                <a:effectLst/>
                <a:latin typeface="Times New Roman" panose="02020603050405020304" pitchFamily="18" charset="0"/>
                <a:ea typeface="Times New Roman" panose="02020603050405020304" pitchFamily="18" charset="0"/>
                <a:cs typeface="Times New Roman" panose="02020603050405020304" pitchFamily="18" charset="0"/>
              </a:rPr>
              <a:t>This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is a kind to iCloud storage</a:t>
            </a:r>
            <a:r>
              <a:rPr lang="en-US" sz="2800" spc="-5"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800" spc="-5" dirty="0">
              <a:latin typeface="Times New Roman" panose="02020603050405020304" pitchFamily="18" charset="0"/>
              <a:ea typeface="Times New Roman" panose="02020603050405020304" pitchFamily="18"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endPar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endParaRPr lang="en-US" sz="2800" spc="-5" dirty="0">
              <a:latin typeface="Times New Roman" panose="02020603050405020304" pitchFamily="18" charset="0"/>
              <a:ea typeface="Calibri" panose="020F0502020204030204" pitchFamily="34" charset="0"/>
              <a:cs typeface="Times New Roman" panose="02020603050405020304" pitchFamily="18" charset="0"/>
            </a:endParaRPr>
          </a:p>
          <a:p>
            <a:pPr marL="457200" lvl="1" indent="0">
              <a:lnSpc>
                <a:spcPts val="2100"/>
              </a:lnSpc>
              <a:spcBef>
                <a:spcPts val="1370"/>
              </a:spcBef>
              <a:spcAft>
                <a:spcPts val="800"/>
              </a:spcAft>
              <a:buSzPts val="1000"/>
              <a:buNone/>
              <a:tabLst>
                <a:tab pos="914400" algn="l"/>
              </a:tabLst>
            </a:pPr>
            <a:endParaRPr lang="en-RW"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RW" dirty="0"/>
          </a:p>
        </p:txBody>
      </p:sp>
    </p:spTree>
    <p:extLst>
      <p:ext uri="{BB962C8B-B14F-4D97-AF65-F5344CB8AC3E}">
        <p14:creationId xmlns:p14="http://schemas.microsoft.com/office/powerpoint/2010/main" val="1114202213"/>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09769-0784-EA26-4D27-D14515926F66}"/>
              </a:ext>
            </a:extLst>
          </p:cNvPr>
          <p:cNvSpPr>
            <a:spLocks noGrp="1"/>
          </p:cNvSpPr>
          <p:nvPr>
            <p:ph type="title"/>
          </p:nvPr>
        </p:nvSpPr>
        <p:spPr/>
        <p:txBody>
          <a:bodyPr>
            <a:normAutofit/>
          </a:bodyPr>
          <a:lstStyle/>
          <a:p>
            <a:r>
              <a:rPr lang="en-US" dirty="0"/>
              <a:t>Git Commands When Working with Local Repositories</a:t>
            </a:r>
            <a:endParaRPr lang="en-RW" dirty="0"/>
          </a:p>
        </p:txBody>
      </p:sp>
      <p:sp>
        <p:nvSpPr>
          <p:cNvPr id="3" name="Content Placeholder 2">
            <a:extLst>
              <a:ext uri="{FF2B5EF4-FFF2-40B4-BE49-F238E27FC236}">
                <a16:creationId xmlns:a16="http://schemas.microsoft.com/office/drawing/2014/main" id="{E6643E6C-03A0-0F13-5DE9-80A6E5FBC482}"/>
              </a:ext>
            </a:extLst>
          </p:cNvPr>
          <p:cNvSpPr>
            <a:spLocks noGrp="1"/>
          </p:cNvSpPr>
          <p:nvPr>
            <p:ph idx="1"/>
          </p:nvPr>
        </p:nvSpPr>
        <p:spPr>
          <a:xfrm>
            <a:off x="204537" y="2052918"/>
            <a:ext cx="11381873" cy="4195481"/>
          </a:xfrm>
        </p:spPr>
        <p:txBody>
          <a:bodyPr>
            <a:normAutofit/>
          </a:bodyPr>
          <a:lstStyle/>
          <a:p>
            <a:r>
              <a:rPr lang="en-US" sz="2800" dirty="0">
                <a:solidFill>
                  <a:srgbClr val="0070C0"/>
                </a:solidFill>
              </a:rPr>
              <a:t>git init: </a:t>
            </a:r>
            <a:r>
              <a:rPr lang="en-US" dirty="0"/>
              <a:t>This Git command converts a directory into an empty repository. This is the initial step you need to take to build a repository. Once you run git init, you will be able to add and commit files and directories.</a:t>
            </a:r>
          </a:p>
          <a:p>
            <a:r>
              <a:rPr lang="en-US" sz="2800" dirty="0">
                <a:solidFill>
                  <a:srgbClr val="0070C0"/>
                </a:solidFill>
              </a:rPr>
              <a:t>git add: </a:t>
            </a:r>
            <a:r>
              <a:rPr lang="en-US" dirty="0"/>
              <a:t>This command allows you to add files in the Git staging area. The file must be added to the index of Git before being available to commit to any particular repository. You can use this command to add directories, files, etc.</a:t>
            </a:r>
          </a:p>
          <a:p>
            <a:r>
              <a:rPr lang="en-US" sz="2800" dirty="0">
                <a:solidFill>
                  <a:srgbClr val="0070C0"/>
                </a:solidFill>
              </a:rPr>
              <a:t>git commit: </a:t>
            </a:r>
            <a:r>
              <a:rPr lang="en-US" dirty="0"/>
              <a:t>The commit command in Git allows you to track the changes in the files in a local repository. Each commit has its own unique ID for reference.</a:t>
            </a:r>
          </a:p>
          <a:p>
            <a:r>
              <a:rPr lang="en-US" sz="2400" dirty="0">
                <a:solidFill>
                  <a:srgbClr val="0070C0"/>
                </a:solidFill>
              </a:rPr>
              <a:t>git status: </a:t>
            </a:r>
            <a:r>
              <a:rPr lang="en-US" dirty="0"/>
              <a:t>The git status command returns the present state of a repository, like if the file is in the staging area but has not been committed.</a:t>
            </a:r>
            <a:endParaRPr lang="en-RW" dirty="0"/>
          </a:p>
        </p:txBody>
      </p:sp>
    </p:spTree>
    <p:extLst>
      <p:ext uri="{BB962C8B-B14F-4D97-AF65-F5344CB8AC3E}">
        <p14:creationId xmlns:p14="http://schemas.microsoft.com/office/powerpoint/2010/main" val="36976599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76CFD-5FD4-CA1F-7C20-A87EE2D51DB7}"/>
              </a:ext>
            </a:extLst>
          </p:cNvPr>
          <p:cNvSpPr>
            <a:spLocks noGrp="1"/>
          </p:cNvSpPr>
          <p:nvPr>
            <p:ph type="title"/>
          </p:nvPr>
        </p:nvSpPr>
        <p:spPr>
          <a:xfrm>
            <a:off x="1097280" y="286603"/>
            <a:ext cx="9767944" cy="963973"/>
          </a:xfrm>
        </p:spPr>
        <p:txBody>
          <a:bodyPr/>
          <a:lstStyle/>
          <a:p>
            <a:r>
              <a:rPr lang="en-US" dirty="0" err="1"/>
              <a:t>Cont</a:t>
            </a:r>
            <a:r>
              <a:rPr lang="en-US" dirty="0"/>
              <a:t>’</a:t>
            </a:r>
            <a:endParaRPr lang="en-RW" dirty="0"/>
          </a:p>
        </p:txBody>
      </p:sp>
      <p:sp>
        <p:nvSpPr>
          <p:cNvPr id="3" name="Content Placeholder 2">
            <a:extLst>
              <a:ext uri="{FF2B5EF4-FFF2-40B4-BE49-F238E27FC236}">
                <a16:creationId xmlns:a16="http://schemas.microsoft.com/office/drawing/2014/main" id="{FB41702A-096F-360D-F62A-9E5BBA8BA6CE}"/>
              </a:ext>
            </a:extLst>
          </p:cNvPr>
          <p:cNvSpPr>
            <a:spLocks noGrp="1"/>
          </p:cNvSpPr>
          <p:nvPr>
            <p:ph idx="1"/>
          </p:nvPr>
        </p:nvSpPr>
        <p:spPr>
          <a:xfrm>
            <a:off x="161365" y="699247"/>
            <a:ext cx="11914094" cy="5019763"/>
          </a:xfrm>
        </p:spPr>
        <p:txBody>
          <a:bodyPr>
            <a:normAutofit/>
          </a:bodyPr>
          <a:lstStyle/>
          <a:p>
            <a:pPr marL="0" indent="0">
              <a:buNone/>
            </a:pPr>
            <a:endParaRPr lang="en-US" sz="2400" dirty="0" smtClean="0">
              <a:highlight>
                <a:srgbClr val="000000"/>
              </a:highlight>
            </a:endParaRPr>
          </a:p>
          <a:p>
            <a:pPr marL="0" indent="0">
              <a:buNone/>
            </a:pPr>
            <a:endParaRPr lang="en-US" sz="3200" dirty="0" smtClean="0">
              <a:solidFill>
                <a:srgbClr val="0070C0"/>
              </a:solidFill>
            </a:endParaRPr>
          </a:p>
          <a:p>
            <a:pPr marL="0" indent="0">
              <a:buNone/>
            </a:pPr>
            <a:r>
              <a:rPr lang="en-US" sz="3200" dirty="0" err="1" smtClean="0">
                <a:solidFill>
                  <a:srgbClr val="0070C0"/>
                </a:solidFill>
              </a:rPr>
              <a:t>git</a:t>
            </a:r>
            <a:r>
              <a:rPr lang="en-US" sz="3200" dirty="0" smtClean="0">
                <a:solidFill>
                  <a:srgbClr val="0070C0"/>
                </a:solidFill>
              </a:rPr>
              <a:t> </a:t>
            </a:r>
            <a:r>
              <a:rPr lang="en-US" sz="3200" dirty="0">
                <a:solidFill>
                  <a:srgbClr val="0070C0"/>
                </a:solidFill>
              </a:rPr>
              <a:t>config</a:t>
            </a:r>
            <a:r>
              <a:rPr lang="en-US" sz="3200" dirty="0">
                <a:solidFill>
                  <a:srgbClr val="0070C0"/>
                </a:solidFill>
              </a:rPr>
              <a:t>: </a:t>
            </a:r>
            <a:r>
              <a:rPr lang="en-US" sz="2400" dirty="0"/>
              <a:t>There are numerous configurations and settings possible in Git, and this command allows you to assign these settings. User.name and </a:t>
            </a:r>
            <a:r>
              <a:rPr lang="en-US" sz="2400" dirty="0" err="1"/>
              <a:t>user.email</a:t>
            </a:r>
            <a:r>
              <a:rPr lang="en-US" sz="2400" dirty="0"/>
              <a:t> are the two significant settings that set the name and email address of a user.</a:t>
            </a:r>
          </a:p>
          <a:p>
            <a:pPr marL="0" indent="0">
              <a:buNone/>
            </a:pPr>
            <a:r>
              <a:rPr lang="en-US" sz="2800" dirty="0">
                <a:solidFill>
                  <a:srgbClr val="0070C0"/>
                </a:solidFill>
              </a:rPr>
              <a:t>git branch: </a:t>
            </a:r>
            <a:r>
              <a:rPr lang="en-US" sz="2400" dirty="0"/>
              <a:t>This command determines the branch of the local repository and allows you to add or delete a branch.</a:t>
            </a:r>
          </a:p>
          <a:p>
            <a:pPr marL="0" indent="0">
              <a:buNone/>
            </a:pPr>
            <a:r>
              <a:rPr lang="en-US" sz="2800" dirty="0" err="1">
                <a:solidFill>
                  <a:srgbClr val="0070C0"/>
                </a:solidFill>
              </a:rPr>
              <a:t>git</a:t>
            </a:r>
            <a:r>
              <a:rPr lang="en-US" sz="2800" dirty="0">
                <a:solidFill>
                  <a:srgbClr val="0070C0"/>
                </a:solidFill>
              </a:rPr>
              <a:t> </a:t>
            </a:r>
            <a:r>
              <a:rPr lang="en-US" sz="2800" dirty="0">
                <a:solidFill>
                  <a:srgbClr val="0070C0"/>
                </a:solidFill>
              </a:rPr>
              <a:t>checkout: </a:t>
            </a:r>
            <a:r>
              <a:rPr lang="en-US" sz="2400" dirty="0" smtClean="0"/>
              <a:t>You </a:t>
            </a:r>
            <a:r>
              <a:rPr lang="en-US" sz="2400" dirty="0"/>
              <a:t>can use this command to switch to another branch.</a:t>
            </a:r>
          </a:p>
          <a:p>
            <a:pPr marL="0" indent="0">
              <a:buNone/>
            </a:pPr>
            <a:r>
              <a:rPr lang="en-US" sz="3200" dirty="0">
                <a:solidFill>
                  <a:srgbClr val="0070C0"/>
                </a:solidFill>
              </a:rPr>
              <a:t>git merge: </a:t>
            </a:r>
            <a:r>
              <a:rPr lang="en-US" sz="2400" dirty="0"/>
              <a:t>The merge command allows you to integrate two or more branches together. It combines the changes made in the branches.</a:t>
            </a:r>
          </a:p>
          <a:p>
            <a:endParaRPr lang="en-RW" dirty="0"/>
          </a:p>
        </p:txBody>
      </p:sp>
    </p:spTree>
    <p:extLst>
      <p:ext uri="{BB962C8B-B14F-4D97-AF65-F5344CB8AC3E}">
        <p14:creationId xmlns:p14="http://schemas.microsoft.com/office/powerpoint/2010/main" val="28243798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A76A1-2412-BC6A-B04E-8416F4DF9832}"/>
              </a:ext>
            </a:extLst>
          </p:cNvPr>
          <p:cNvSpPr>
            <a:spLocks noGrp="1"/>
          </p:cNvSpPr>
          <p:nvPr>
            <p:ph type="title"/>
          </p:nvPr>
        </p:nvSpPr>
        <p:spPr>
          <a:xfrm>
            <a:off x="0" y="452718"/>
            <a:ext cx="11405937" cy="1364050"/>
          </a:xfrm>
        </p:spPr>
        <p:txBody>
          <a:bodyPr>
            <a:normAutofit/>
          </a:bodyPr>
          <a:lstStyle/>
          <a:p>
            <a:r>
              <a:rPr lang="en-US" dirty="0"/>
              <a:t>Git Commands When Working with Remote Repositories</a:t>
            </a:r>
            <a:endParaRPr lang="en-RW" dirty="0"/>
          </a:p>
        </p:txBody>
      </p:sp>
      <p:sp>
        <p:nvSpPr>
          <p:cNvPr id="3" name="Content Placeholder 2">
            <a:extLst>
              <a:ext uri="{FF2B5EF4-FFF2-40B4-BE49-F238E27FC236}">
                <a16:creationId xmlns:a16="http://schemas.microsoft.com/office/drawing/2014/main" id="{3057B557-A12F-7F05-1DD1-68A5A3CDE575}"/>
              </a:ext>
            </a:extLst>
          </p:cNvPr>
          <p:cNvSpPr>
            <a:spLocks noGrp="1"/>
          </p:cNvSpPr>
          <p:nvPr>
            <p:ph idx="1"/>
          </p:nvPr>
        </p:nvSpPr>
        <p:spPr>
          <a:xfrm>
            <a:off x="180474" y="2052918"/>
            <a:ext cx="11875168" cy="4195481"/>
          </a:xfrm>
        </p:spPr>
        <p:txBody>
          <a:bodyPr>
            <a:normAutofit fontScale="85000" lnSpcReduction="20000"/>
          </a:bodyPr>
          <a:lstStyle/>
          <a:p>
            <a:pPr marL="0" indent="0">
              <a:buNone/>
            </a:pPr>
            <a:r>
              <a:rPr lang="en-US" sz="3300" dirty="0">
                <a:solidFill>
                  <a:srgbClr val="0070C0"/>
                </a:solidFill>
              </a:rPr>
              <a:t>1.git remote: </a:t>
            </a:r>
            <a:r>
              <a:rPr lang="en-US" sz="2800" dirty="0"/>
              <a:t>This Git command allows you to connect a remote repository to a local repository.</a:t>
            </a:r>
          </a:p>
          <a:p>
            <a:pPr marL="0" indent="0">
              <a:buNone/>
            </a:pPr>
            <a:r>
              <a:rPr lang="en-US" sz="3900" dirty="0">
                <a:solidFill>
                  <a:srgbClr val="0070C0"/>
                </a:solidFill>
              </a:rPr>
              <a:t>2.git clone: </a:t>
            </a:r>
            <a:r>
              <a:rPr lang="en-US" sz="2800" dirty="0"/>
              <a:t>You can use the clone command to create a local copy of an already existing remote repository. This allows you to copy and download the required repository to the system. It is similar to the init command while working with remote repositories as it allows you to build a local directory, consisting of all the necessary files and history of the repository.</a:t>
            </a:r>
          </a:p>
          <a:p>
            <a:pPr marL="0" indent="0">
              <a:buNone/>
            </a:pPr>
            <a:r>
              <a:rPr lang="en-US" sz="4200" dirty="0">
                <a:solidFill>
                  <a:srgbClr val="0070C0"/>
                </a:solidFill>
              </a:rPr>
              <a:t>3.git pull: </a:t>
            </a:r>
            <a:r>
              <a:rPr lang="en-US" sz="2800" dirty="0"/>
              <a:t>The pull command is used to run the latest version of any repository. This pulls all the changes made from the remote to the local repository.</a:t>
            </a:r>
          </a:p>
          <a:p>
            <a:pPr marL="0" indent="0">
              <a:buNone/>
            </a:pPr>
            <a:r>
              <a:rPr lang="en-US" sz="4300" dirty="0">
                <a:solidFill>
                  <a:srgbClr val="0070C0"/>
                </a:solidFill>
              </a:rPr>
              <a:t>4.git push: </a:t>
            </a:r>
            <a:r>
              <a:rPr lang="en-US" sz="2800" dirty="0"/>
              <a:t>This command sends local commits to the respective remote repository. It needs two parameters, i.e., the remote repository and the specific branch where it needs to be pushed.</a:t>
            </a:r>
          </a:p>
          <a:p>
            <a:endParaRPr lang="en-RW" dirty="0"/>
          </a:p>
        </p:txBody>
      </p:sp>
    </p:spTree>
    <p:extLst>
      <p:ext uri="{BB962C8B-B14F-4D97-AF65-F5344CB8AC3E}">
        <p14:creationId xmlns:p14="http://schemas.microsoft.com/office/powerpoint/2010/main" val="22015917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4479B2-AFC7-F6EB-B05E-B4C52B7C2180}"/>
              </a:ext>
            </a:extLst>
          </p:cNvPr>
          <p:cNvSpPr>
            <a:spLocks noGrp="1"/>
          </p:cNvSpPr>
          <p:nvPr>
            <p:ph idx="1"/>
          </p:nvPr>
        </p:nvSpPr>
        <p:spPr>
          <a:xfrm>
            <a:off x="0" y="88632"/>
            <a:ext cx="12192000" cy="6110421"/>
          </a:xfrm>
        </p:spPr>
        <p:txBody>
          <a:bodyPr>
            <a:normAutofit lnSpcReduction="10000"/>
          </a:bodyPr>
          <a:lstStyle/>
          <a:p>
            <a:r>
              <a:rPr lang="en-US" sz="3600" dirty="0"/>
              <a:t>Git</a:t>
            </a:r>
            <a:r>
              <a:rPr lang="en-US" sz="3600" dirty="0"/>
              <a:t>: </a:t>
            </a:r>
            <a:r>
              <a:rPr lang="en-US" sz="3600" dirty="0" smtClean="0"/>
              <a:t> </a:t>
            </a:r>
            <a:r>
              <a:rPr lang="en-US" sz="2400" dirty="0" smtClean="0">
                <a:solidFill>
                  <a:srgbClr val="0070C0"/>
                </a:solidFill>
              </a:rPr>
              <a:t>stands for Global information Tracker </a:t>
            </a:r>
            <a:r>
              <a:rPr lang="en-US" sz="2400" dirty="0"/>
              <a:t>A distributed version control system that enables tracking of changes in source code and collaboration among multiple developers.</a:t>
            </a:r>
          </a:p>
          <a:p>
            <a:endParaRPr lang="en-RW"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RW" dirty="0"/>
          </a:p>
          <a:p>
            <a:pPr marL="0" indent="0">
              <a:buNone/>
            </a:pPr>
            <a:r>
              <a:rPr lang="en-US" sz="2800" dirty="0" err="1" smtClean="0">
                <a:effectLst/>
                <a:latin typeface="Times New Roman" panose="02020603050405020304" pitchFamily="18" charset="0"/>
                <a:ea typeface="Calibri" panose="020F0502020204030204" pitchFamily="34" charset="0"/>
                <a:cs typeface="Times New Roman" panose="02020603050405020304" pitchFamily="18" charset="0"/>
              </a:rPr>
              <a:t>Git</a:t>
            </a:r>
            <a:r>
              <a:rPr lang="en-US" sz="28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is used to tracking changes in the source code, enabling multiple developers to work together on non-linear development. </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Before diving deep, let’s explain a scenario before Git:</a:t>
            </a:r>
            <a:endParaRPr lang="en-RW"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Developers used to submit their codes to the central server without having copies of their own</a:t>
            </a:r>
            <a:endParaRPr lang="en-RW"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Any changes made to the source code were unknown to the other developers</a:t>
            </a:r>
            <a:endParaRPr lang="en-RW"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There was no communication between any of the developers</a:t>
            </a:r>
            <a:endParaRPr lang="en-RW"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RW" dirty="0"/>
          </a:p>
        </p:txBody>
      </p:sp>
    </p:spTree>
    <p:extLst>
      <p:ext uri="{BB962C8B-B14F-4D97-AF65-F5344CB8AC3E}">
        <p14:creationId xmlns:p14="http://schemas.microsoft.com/office/powerpoint/2010/main" val="27006770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E138015-CDA1-7822-8DC2-B27E7C75A0B9}"/>
              </a:ext>
            </a:extLst>
          </p:cNvPr>
          <p:cNvPicPr>
            <a:picLocks noGrp="1" noChangeAspect="1"/>
          </p:cNvPicPr>
          <p:nvPr>
            <p:ph idx="1"/>
          </p:nvPr>
        </p:nvPicPr>
        <p:blipFill>
          <a:blip r:embed="rId2"/>
          <a:stretch>
            <a:fillRect/>
          </a:stretch>
        </p:blipFill>
        <p:spPr>
          <a:xfrm>
            <a:off x="5735" y="0"/>
            <a:ext cx="12186265" cy="6858000"/>
          </a:xfrm>
          <a:prstGeom prst="rect">
            <a:avLst/>
          </a:prstGeom>
        </p:spPr>
      </p:pic>
    </p:spTree>
    <p:extLst>
      <p:ext uri="{BB962C8B-B14F-4D97-AF65-F5344CB8AC3E}">
        <p14:creationId xmlns:p14="http://schemas.microsoft.com/office/powerpoint/2010/main" val="25206826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2DB1-5145-8BC9-9071-50B29E4BBE0C}"/>
              </a:ext>
            </a:extLst>
          </p:cNvPr>
          <p:cNvSpPr>
            <a:spLocks noGrp="1"/>
          </p:cNvSpPr>
          <p:nvPr>
            <p:ph type="title"/>
          </p:nvPr>
        </p:nvSpPr>
        <p:spPr>
          <a:xfrm>
            <a:off x="838200" y="365126"/>
            <a:ext cx="5827643" cy="602284"/>
          </a:xfrm>
        </p:spPr>
        <p:txBody>
          <a:bodyPr>
            <a:normAutofit fontScale="90000"/>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Now let’s look at the scenario after Git:</a:t>
            </a:r>
            <a:r>
              <a:rPr lang="en-RW" sz="1800" dirty="0">
                <a:effectLst/>
                <a:latin typeface="Calibri" panose="020F0502020204030204" pitchFamily="34" charset="0"/>
                <a:ea typeface="Calibri" panose="020F0502020204030204" pitchFamily="34" charset="0"/>
                <a:cs typeface="Times New Roman" panose="02020603050405020304" pitchFamily="18" charset="0"/>
              </a:rPr>
              <a:t/>
            </a:r>
            <a:br>
              <a:rPr lang="en-RW" sz="1800" dirty="0">
                <a:effectLst/>
                <a:latin typeface="Calibri" panose="020F0502020204030204" pitchFamily="34" charset="0"/>
                <a:ea typeface="Calibri" panose="020F0502020204030204" pitchFamily="34"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CBE0015B-DEEF-8B96-C93A-4B3690976586}"/>
              </a:ext>
            </a:extLst>
          </p:cNvPr>
          <p:cNvSpPr>
            <a:spLocks noGrp="1"/>
          </p:cNvSpPr>
          <p:nvPr>
            <p:ph idx="1"/>
          </p:nvPr>
        </p:nvSpPr>
        <p:spPr>
          <a:xfrm>
            <a:off x="427383" y="365126"/>
            <a:ext cx="10515600" cy="4953622"/>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US" sz="1800" dirty="0" smtClean="0">
                <a:effectLst/>
                <a:latin typeface="Times New Roman" panose="02020603050405020304" pitchFamily="18" charset="0"/>
                <a:ea typeface="Times New Roman" panose="02020603050405020304" pitchFamily="18" charset="0"/>
                <a:cs typeface="Times New Roman" panose="02020603050405020304" pitchFamily="18" charset="0"/>
              </a:rPr>
              <a:t>Every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developer has an entire copy of the code on their local systems</a:t>
            </a: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Any changes made to the source code can be tracked by others</a:t>
            </a: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There is regular communication between the developers</a:t>
            </a: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RW" dirty="0"/>
          </a:p>
        </p:txBody>
      </p:sp>
      <p:pic>
        <p:nvPicPr>
          <p:cNvPr id="4" name="Picture 3">
            <a:extLst>
              <a:ext uri="{FF2B5EF4-FFF2-40B4-BE49-F238E27FC236}">
                <a16:creationId xmlns:a16="http://schemas.microsoft.com/office/drawing/2014/main" id="{8882170B-2D87-5EB2-600C-53435A07E8D0}"/>
              </a:ext>
            </a:extLst>
          </p:cNvPr>
          <p:cNvPicPr>
            <a:picLocks noChangeAspect="1"/>
          </p:cNvPicPr>
          <p:nvPr/>
        </p:nvPicPr>
        <p:blipFill>
          <a:blip r:embed="rId2"/>
          <a:stretch>
            <a:fillRect/>
          </a:stretch>
        </p:blipFill>
        <p:spPr>
          <a:xfrm>
            <a:off x="259976" y="2163090"/>
            <a:ext cx="10416988" cy="4351337"/>
          </a:xfrm>
          <a:prstGeom prst="rect">
            <a:avLst/>
          </a:prstGeom>
        </p:spPr>
      </p:pic>
    </p:spTree>
    <p:extLst>
      <p:ext uri="{BB962C8B-B14F-4D97-AF65-F5344CB8AC3E}">
        <p14:creationId xmlns:p14="http://schemas.microsoft.com/office/powerpoint/2010/main" val="1905946357"/>
      </p:ext>
    </p:extLst>
  </p:cSld>
  <p:clrMapOvr>
    <a:masterClrMapping/>
  </p:clrMapOvr>
  <p:transition spd="slow">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1DC03-3D07-6828-2662-85A278BD521E}"/>
              </a:ext>
            </a:extLst>
          </p:cNvPr>
          <p:cNvSpPr>
            <a:spLocks noGrp="1"/>
          </p:cNvSpPr>
          <p:nvPr>
            <p:ph type="title"/>
          </p:nvPr>
        </p:nvSpPr>
        <p:spPr>
          <a:xfrm>
            <a:off x="1097280" y="286604"/>
            <a:ext cx="10058400" cy="869844"/>
          </a:xfrm>
        </p:spPr>
        <p:txBody>
          <a:bodyPr>
            <a:normAutofit/>
          </a:bodyPr>
          <a:lstStyle/>
          <a:p>
            <a:r>
              <a:rPr lang="en-US" dirty="0">
                <a:solidFill>
                  <a:srgbClr val="0070C0"/>
                </a:solidFill>
              </a:rPr>
              <a:t>Features of Git</a:t>
            </a:r>
            <a:endParaRPr lang="en-RW" dirty="0">
              <a:solidFill>
                <a:srgbClr val="0070C0"/>
              </a:solidFill>
            </a:endParaRPr>
          </a:p>
        </p:txBody>
      </p:sp>
      <p:sp>
        <p:nvSpPr>
          <p:cNvPr id="3" name="Content Placeholder 2">
            <a:extLst>
              <a:ext uri="{FF2B5EF4-FFF2-40B4-BE49-F238E27FC236}">
                <a16:creationId xmlns:a16="http://schemas.microsoft.com/office/drawing/2014/main" id="{BBB089A0-2E2B-C4BA-2F43-27B7574A9C92}"/>
              </a:ext>
            </a:extLst>
          </p:cNvPr>
          <p:cNvSpPr>
            <a:spLocks noGrp="1"/>
          </p:cNvSpPr>
          <p:nvPr>
            <p:ph idx="1"/>
          </p:nvPr>
        </p:nvSpPr>
        <p:spPr>
          <a:xfrm>
            <a:off x="204536" y="1507573"/>
            <a:ext cx="10951143" cy="4879780"/>
          </a:xfrm>
        </p:spPr>
        <p:txBody>
          <a:bodyPr>
            <a:normAutofit fontScale="92500" lnSpcReduction="10000"/>
          </a:bodyPr>
          <a:lstStyle/>
          <a:p>
            <a:r>
              <a:rPr lang="en-US" sz="3200" dirty="0"/>
              <a:t>	</a:t>
            </a:r>
            <a:endParaRPr lang="en-US" sz="3200" dirty="0" smtClean="0"/>
          </a:p>
          <a:p>
            <a:pPr marL="571500" indent="-571500">
              <a:buFont typeface="+mj-lt"/>
              <a:buAutoNum type="romanUcPeriod"/>
            </a:pPr>
            <a:r>
              <a:rPr lang="en-US" sz="3200" dirty="0" smtClean="0"/>
              <a:t>    Tracks </a:t>
            </a:r>
            <a:r>
              <a:rPr lang="en-US" sz="3200" dirty="0"/>
              <a:t>history</a:t>
            </a:r>
          </a:p>
          <a:p>
            <a:pPr marL="571500" indent="-571500">
              <a:buFont typeface="+mj-lt"/>
              <a:buAutoNum type="romanUcPeriod"/>
            </a:pPr>
            <a:r>
              <a:rPr lang="en-US" sz="3200" dirty="0"/>
              <a:t>	Free and open source</a:t>
            </a:r>
          </a:p>
          <a:p>
            <a:pPr marL="571500" indent="-571500">
              <a:buFont typeface="+mj-lt"/>
              <a:buAutoNum type="romanUcPeriod"/>
            </a:pPr>
            <a:r>
              <a:rPr lang="en-US" sz="3200" dirty="0"/>
              <a:t>	Supports non-linear development</a:t>
            </a:r>
          </a:p>
          <a:p>
            <a:pPr marL="571500" indent="-571500">
              <a:buFont typeface="+mj-lt"/>
              <a:buAutoNum type="romanUcPeriod"/>
            </a:pPr>
            <a:r>
              <a:rPr lang="en-US" sz="3200" dirty="0"/>
              <a:t>	Creates backups</a:t>
            </a:r>
          </a:p>
          <a:p>
            <a:pPr marL="571500" indent="-571500">
              <a:buFont typeface="+mj-lt"/>
              <a:buAutoNum type="romanUcPeriod"/>
            </a:pPr>
            <a:r>
              <a:rPr lang="en-US" sz="3200" dirty="0"/>
              <a:t>	Scalable</a:t>
            </a:r>
          </a:p>
          <a:p>
            <a:pPr marL="571500" indent="-571500">
              <a:buFont typeface="+mj-lt"/>
              <a:buAutoNum type="romanUcPeriod"/>
            </a:pPr>
            <a:r>
              <a:rPr lang="en-US" sz="3200" dirty="0"/>
              <a:t>	Supports collaboration</a:t>
            </a:r>
          </a:p>
          <a:p>
            <a:pPr marL="571500" indent="-571500">
              <a:buFont typeface="+mj-lt"/>
              <a:buAutoNum type="romanUcPeriod"/>
            </a:pPr>
            <a:r>
              <a:rPr lang="en-US" sz="3200" dirty="0"/>
              <a:t>	Branching is easier</a:t>
            </a:r>
          </a:p>
          <a:p>
            <a:pPr marL="571500" indent="-571500">
              <a:buFont typeface="+mj-lt"/>
              <a:buAutoNum type="romanUcPeriod"/>
            </a:pPr>
            <a:r>
              <a:rPr lang="en-US" sz="3200" dirty="0"/>
              <a:t>	Distributed development</a:t>
            </a:r>
          </a:p>
          <a:p>
            <a:endParaRPr lang="en-RW" dirty="0"/>
          </a:p>
        </p:txBody>
      </p:sp>
    </p:spTree>
    <p:extLst>
      <p:ext uri="{BB962C8B-B14F-4D97-AF65-F5344CB8AC3E}">
        <p14:creationId xmlns:p14="http://schemas.microsoft.com/office/powerpoint/2010/main" val="103340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DA46529-28C3-C1BE-18CC-D5849F29E1F9}"/>
              </a:ext>
            </a:extLst>
          </p:cNvPr>
          <p:cNvPicPr>
            <a:picLocks noGrp="1" noChangeAspect="1"/>
          </p:cNvPicPr>
          <p:nvPr>
            <p:ph idx="1"/>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341480390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251367-9000-B45D-CACB-FA844580F27E}"/>
              </a:ext>
            </a:extLst>
          </p:cNvPr>
          <p:cNvSpPr>
            <a:spLocks noGrp="1"/>
          </p:cNvSpPr>
          <p:nvPr>
            <p:ph idx="1"/>
          </p:nvPr>
        </p:nvSpPr>
        <p:spPr>
          <a:xfrm>
            <a:off x="162339" y="341381"/>
            <a:ext cx="10515600" cy="5860635"/>
          </a:xfrm>
        </p:spPr>
        <p:txBody>
          <a:bodyPr>
            <a:normAutofit/>
          </a:bodyPr>
          <a:lstStyle/>
          <a:p>
            <a:r>
              <a:rPr lang="en-US" sz="3200" dirty="0">
                <a:solidFill>
                  <a:srgbClr val="0070C0"/>
                </a:solidFill>
              </a:rPr>
              <a:t>GitHub: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is a code hosting platform for version control and collaboration. It lets you and others work together on projects from anywhere.</a:t>
            </a:r>
          </a:p>
          <a:p>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At a high level, GitHub is a website and cloud-based service that helps developers store and manage their code, as well as track and control changes to their code. To understand exactly what GitHub is, you need to know two connected principles:</a:t>
            </a:r>
            <a:endParaRPr lang="en-RW"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500"/>
              </a:lnSpc>
              <a:spcAft>
                <a:spcPts val="800"/>
              </a:spcAft>
              <a:buSzPts val="1000"/>
              <a:buFont typeface="Symbol" panose="05050102010706020507" pitchFamily="18" charset="2"/>
              <a:buChar char=""/>
              <a:tabLst>
                <a:tab pos="45720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Version control</a:t>
            </a:r>
            <a:endParaRPr lang="en-RW"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500"/>
              </a:lnSpc>
              <a:spcAft>
                <a:spcPts val="800"/>
              </a:spcAft>
              <a:buSzPts val="1000"/>
              <a:buFont typeface="Symbol" panose="05050102010706020507" pitchFamily="18" charset="2"/>
              <a:buChar char=""/>
              <a:tabLst>
                <a:tab pos="45720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Git</a:t>
            </a:r>
            <a:endParaRPr lang="en-RW"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RW" dirty="0"/>
          </a:p>
        </p:txBody>
      </p:sp>
    </p:spTree>
    <p:extLst>
      <p:ext uri="{BB962C8B-B14F-4D97-AF65-F5344CB8AC3E}">
        <p14:creationId xmlns:p14="http://schemas.microsoft.com/office/powerpoint/2010/main" val="210343863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6F29E7-6669-001C-9D53-EEBDB511AC70}"/>
              </a:ext>
            </a:extLst>
          </p:cNvPr>
          <p:cNvSpPr>
            <a:spLocks noGrp="1"/>
          </p:cNvSpPr>
          <p:nvPr>
            <p:ph idx="1"/>
          </p:nvPr>
        </p:nvSpPr>
        <p:spPr>
          <a:xfrm>
            <a:off x="122582" y="314876"/>
            <a:ext cx="11950148" cy="6271453"/>
          </a:xfrm>
        </p:spPr>
        <p:txBody>
          <a:bodyPr>
            <a:normAutofit/>
          </a:bodyPr>
          <a:lstStyle/>
          <a:p>
            <a:pPr marL="0" indent="0">
              <a:buNone/>
            </a:pPr>
            <a:endParaRPr lang="en-US" sz="3200" dirty="0" smtClean="0">
              <a:solidFill>
                <a:srgbClr val="0070C0"/>
              </a:solidFill>
            </a:endParaRPr>
          </a:p>
          <a:p>
            <a:pPr marL="0" indent="0">
              <a:buNone/>
            </a:pPr>
            <a:endParaRPr lang="en-US" sz="3200" dirty="0">
              <a:solidFill>
                <a:srgbClr val="0070C0"/>
              </a:solidFill>
            </a:endParaRPr>
          </a:p>
          <a:p>
            <a:pPr marL="0" indent="0">
              <a:buNone/>
            </a:pPr>
            <a:endParaRPr lang="en-US" sz="3200" dirty="0" smtClean="0">
              <a:solidFill>
                <a:srgbClr val="0070C0"/>
              </a:solidFill>
            </a:endParaRPr>
          </a:p>
          <a:p>
            <a:pPr marL="0" indent="0">
              <a:buNone/>
            </a:pPr>
            <a:r>
              <a:rPr lang="en-US" sz="3200" dirty="0" smtClean="0">
                <a:solidFill>
                  <a:srgbClr val="0070C0"/>
                </a:solidFill>
              </a:rPr>
              <a:t>Terminal :</a:t>
            </a:r>
            <a:r>
              <a:rPr lang="en-US" sz="3200" dirty="0"/>
              <a:t>A command-line interface used to interact with an operating system and execute commands, including </a:t>
            </a:r>
            <a:r>
              <a:rPr lang="en-US" sz="3200" dirty="0" err="1"/>
              <a:t>Git</a:t>
            </a:r>
            <a:r>
              <a:rPr lang="en-US" sz="3200" dirty="0"/>
              <a:t> commands.</a:t>
            </a:r>
          </a:p>
          <a:p>
            <a:pPr marL="0" indent="0">
              <a:buNone/>
            </a:pPr>
            <a:endParaRPr lang="en-US" sz="3200" dirty="0">
              <a:solidFill>
                <a:srgbClr val="0070C0"/>
              </a:solidFill>
            </a:endParaRPr>
          </a:p>
          <a:p>
            <a:pPr marL="0" indent="0">
              <a:buNone/>
            </a:pPr>
            <a:endParaRPr lang="en-RW" dirty="0"/>
          </a:p>
        </p:txBody>
      </p:sp>
    </p:spTree>
    <p:extLst>
      <p:ext uri="{BB962C8B-B14F-4D97-AF65-F5344CB8AC3E}">
        <p14:creationId xmlns:p14="http://schemas.microsoft.com/office/powerpoint/2010/main" val="275744817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974A9-5620-444D-CCF1-6472CD69735C}"/>
              </a:ext>
            </a:extLst>
          </p:cNvPr>
          <p:cNvSpPr>
            <a:spLocks noGrp="1"/>
          </p:cNvSpPr>
          <p:nvPr>
            <p:ph type="title"/>
          </p:nvPr>
        </p:nvSpPr>
        <p:spPr/>
        <p:txBody>
          <a:bodyPr/>
          <a:lstStyle/>
          <a:p>
            <a:r>
              <a:rPr lang="en-US" dirty="0"/>
              <a:t>Why the terminal?</a:t>
            </a:r>
            <a:endParaRPr lang="en-RW" dirty="0"/>
          </a:p>
        </p:txBody>
      </p:sp>
      <p:sp>
        <p:nvSpPr>
          <p:cNvPr id="3" name="Content Placeholder 2">
            <a:extLst>
              <a:ext uri="{FF2B5EF4-FFF2-40B4-BE49-F238E27FC236}">
                <a16:creationId xmlns:a16="http://schemas.microsoft.com/office/drawing/2014/main" id="{13C16CCE-FDF9-B709-907F-3FFAA3753EE2}"/>
              </a:ext>
            </a:extLst>
          </p:cNvPr>
          <p:cNvSpPr>
            <a:spLocks noGrp="1"/>
          </p:cNvSpPr>
          <p:nvPr>
            <p:ph idx="1"/>
          </p:nvPr>
        </p:nvSpPr>
        <p:spPr>
          <a:xfrm>
            <a:off x="838199" y="1825624"/>
            <a:ext cx="10691191" cy="5032375"/>
          </a:xfrm>
        </p:spPr>
        <p:txBody>
          <a:bodyPr>
            <a:normAutofit lnSpcReduction="10000"/>
          </a:bodyPr>
          <a:lstStyle/>
          <a:p>
            <a:r>
              <a:rPr lang="en-US" sz="3200" dirty="0">
                <a:latin typeface="Times New Roman" panose="02020603050405020304" pitchFamily="18" charset="0"/>
                <a:cs typeface="Times New Roman" panose="02020603050405020304" pitchFamily="18" charset="0"/>
              </a:rPr>
              <a:t>The Terminal is a great tool for communication - and by that, I don’t mean for chatting with your best friend, but rather to access the internal CPU and other networks and computers. In coding, it is used primarily for:</a:t>
            </a:r>
          </a:p>
          <a:p>
            <a:r>
              <a:rPr lang="en-US" sz="3200" dirty="0">
                <a:latin typeface="Times New Roman" panose="02020603050405020304" pitchFamily="18" charset="0"/>
                <a:cs typeface="Times New Roman" panose="02020603050405020304" pitchFamily="18" charset="0"/>
              </a:rPr>
              <a:t>Installing specific packages, updates, export and import your work to platforms like GitHub</a:t>
            </a:r>
          </a:p>
          <a:p>
            <a:r>
              <a:rPr lang="en-US" sz="3200" dirty="0">
                <a:latin typeface="Times New Roman" panose="02020603050405020304" pitchFamily="18" charset="0"/>
                <a:cs typeface="Times New Roman" panose="02020603050405020304" pitchFamily="18" charset="0"/>
              </a:rPr>
              <a:t>	Code testing</a:t>
            </a:r>
          </a:p>
          <a:p>
            <a:r>
              <a:rPr lang="en-US" sz="3200" dirty="0">
                <a:latin typeface="Times New Roman" panose="02020603050405020304" pitchFamily="18" charset="0"/>
                <a:cs typeface="Times New Roman" panose="02020603050405020304" pitchFamily="18" charset="0"/>
              </a:rPr>
              <a:t>	Error display</a:t>
            </a:r>
          </a:p>
          <a:p>
            <a:r>
              <a:rPr lang="en-US" sz="3200" dirty="0">
                <a:latin typeface="Times New Roman" panose="02020603050405020304" pitchFamily="18" charset="0"/>
                <a:cs typeface="Times New Roman" panose="02020603050405020304" pitchFamily="18" charset="0"/>
              </a:rPr>
              <a:t>In short, it is a perfect way to be able to find information, manage installations and communicate with external services.</a:t>
            </a:r>
          </a:p>
          <a:p>
            <a:endParaRPr lang="en-RW" dirty="0"/>
          </a:p>
        </p:txBody>
      </p:sp>
    </p:spTree>
    <p:extLst>
      <p:ext uri="{BB962C8B-B14F-4D97-AF65-F5344CB8AC3E}">
        <p14:creationId xmlns:p14="http://schemas.microsoft.com/office/powerpoint/2010/main" val="4038959360"/>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FE88-5423-32D7-BEB4-B362D6C35804}"/>
              </a:ext>
            </a:extLst>
          </p:cNvPr>
          <p:cNvSpPr>
            <a:spLocks noGrp="1"/>
          </p:cNvSpPr>
          <p:nvPr>
            <p:ph type="title"/>
          </p:nvPr>
        </p:nvSpPr>
        <p:spPr/>
        <p:txBody>
          <a:bodyPr>
            <a:noAutofit/>
          </a:bodyPr>
          <a:lstStyle/>
          <a:p>
            <a:r>
              <a:rPr lang="en-US" sz="9600" dirty="0"/>
              <a:t>The End</a:t>
            </a:r>
            <a:endParaRPr lang="en-RW" sz="9600" dirty="0"/>
          </a:p>
        </p:txBody>
      </p:sp>
      <p:sp>
        <p:nvSpPr>
          <p:cNvPr id="3" name="Content Placeholder 2">
            <a:extLst>
              <a:ext uri="{FF2B5EF4-FFF2-40B4-BE49-F238E27FC236}">
                <a16:creationId xmlns:a16="http://schemas.microsoft.com/office/drawing/2014/main" id="{E34EC865-F7B0-F0CE-7E1D-E525CA0D245F}"/>
              </a:ext>
            </a:extLst>
          </p:cNvPr>
          <p:cNvSpPr>
            <a:spLocks noGrp="1"/>
          </p:cNvSpPr>
          <p:nvPr>
            <p:ph idx="1"/>
          </p:nvPr>
        </p:nvSpPr>
        <p:spPr/>
        <p:txBody>
          <a:bodyPr/>
          <a:lstStyle/>
          <a:p>
            <a:endParaRPr lang="en-US" dirty="0"/>
          </a:p>
          <a:p>
            <a:endParaRPr lang="en-US" dirty="0"/>
          </a:p>
          <a:p>
            <a:endParaRPr lang="en-US" dirty="0"/>
          </a:p>
          <a:p>
            <a:r>
              <a:rPr lang="en-US" sz="5400" dirty="0"/>
              <a:t>Thank you for your kind attention</a:t>
            </a:r>
            <a:endParaRPr lang="en-RW" sz="5400" dirty="0"/>
          </a:p>
        </p:txBody>
      </p:sp>
    </p:spTree>
    <p:extLst>
      <p:ext uri="{BB962C8B-B14F-4D97-AF65-F5344CB8AC3E}">
        <p14:creationId xmlns:p14="http://schemas.microsoft.com/office/powerpoint/2010/main" val="3404572466"/>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397</TotalTime>
  <Words>981</Words>
  <Application>Microsoft Office PowerPoint</Application>
  <PresentationFormat>Widescreen</PresentationFormat>
  <Paragraphs>97</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Calibri Light</vt:lpstr>
      <vt:lpstr>Symbol</vt:lpstr>
      <vt:lpstr>Times New Roman</vt:lpstr>
      <vt:lpstr>Wingdings</vt:lpstr>
      <vt:lpstr>Retrospect</vt:lpstr>
      <vt:lpstr>   TRADE: SOFTWARE DEVELOPMENT  MODULE CODE:SWDVC301  LEVEL 3 SOFTWARE  DEVELOPMENT    A ,B &amp; C</vt:lpstr>
      <vt:lpstr>PowerPoint Presentation</vt:lpstr>
      <vt:lpstr>PowerPoint Presentation</vt:lpstr>
      <vt:lpstr>Introduction </vt:lpstr>
      <vt:lpstr>There are different problems that may be raised, among them we can cite the followings: </vt:lpstr>
      <vt:lpstr> Learning outcome 1: Setup repository  Indicative content 1.1: Definition of general key terms </vt:lpstr>
      <vt:lpstr>  Before we dive into setting up version control, let me explain some common terms and commands used in version control so you understand what everything means!</vt:lpstr>
      <vt:lpstr>PowerPoint Presentation</vt:lpstr>
      <vt:lpstr>Git Commands When Working with Local Repositories</vt:lpstr>
      <vt:lpstr>Cont’</vt:lpstr>
      <vt:lpstr>Git Commands When Working with Remote Repositories</vt:lpstr>
      <vt:lpstr>PowerPoint Presentation</vt:lpstr>
      <vt:lpstr>PowerPoint Presentation</vt:lpstr>
      <vt:lpstr>Now let’s look at the scenario after Git: </vt:lpstr>
      <vt:lpstr>Features of Git</vt:lpstr>
      <vt:lpstr>PowerPoint Presentation</vt:lpstr>
      <vt:lpstr>PowerPoint Presentation</vt:lpstr>
      <vt:lpstr>PowerPoint Presentation</vt:lpstr>
      <vt:lpstr>Why the terminal?</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TRADE: SOFTWARE DEVELOPMENT  MODULE CODE:SWDVC301  LEVEL 3 SOFTWARE  DEVELOPMENT</dc:title>
  <dc:creator>admin</dc:creator>
  <cp:lastModifiedBy>Azix</cp:lastModifiedBy>
  <cp:revision>31</cp:revision>
  <dcterms:created xsi:type="dcterms:W3CDTF">2023-05-13T08:25:12Z</dcterms:created>
  <dcterms:modified xsi:type="dcterms:W3CDTF">2025-02-10T11:13:54Z</dcterms:modified>
</cp:coreProperties>
</file>